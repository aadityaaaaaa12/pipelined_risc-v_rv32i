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lexandria Bold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Garet Bold" charset="1" panose="00000000000000000000"/>
      <p:regular r:id="rId22"/>
    </p:embeddedFont>
    <p:embeddedFont>
      <p:font typeface="Alexandria" charset="1" panose="000000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1.jpe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4.jpeg" Type="http://schemas.openxmlformats.org/officeDocument/2006/relationships/image"/><Relationship Id="rId7" Target="../media/image35.jpe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7.jpeg" Type="http://schemas.openxmlformats.org/officeDocument/2006/relationships/image"/><Relationship Id="rId7" Target="../media/image38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2.jpeg" Type="http://schemas.openxmlformats.org/officeDocument/2006/relationships/image"/><Relationship Id="rId7" Target="../media/image43.jpe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8325" y="2874306"/>
            <a:ext cx="12951349" cy="401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RISC V ARCHITECTURE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466486" y="7880574"/>
            <a:ext cx="1821514" cy="2406426"/>
          </a:xfrm>
          <a:custGeom>
            <a:avLst/>
            <a:gdLst/>
            <a:ahLst/>
            <a:cxnLst/>
            <a:rect r="r" b="b" t="t" l="l"/>
            <a:pathLst>
              <a:path h="2406426" w="1821514">
                <a:moveTo>
                  <a:pt x="0" y="0"/>
                </a:moveTo>
                <a:lnTo>
                  <a:pt x="1821514" y="0"/>
                </a:lnTo>
                <a:lnTo>
                  <a:pt x="1821514" y="2406426"/>
                </a:lnTo>
                <a:lnTo>
                  <a:pt x="0" y="2406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1984" y="2503111"/>
            <a:ext cx="11400286" cy="63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 this internship, we designed and implemented a RISC-V processor, starting with a single-cycle model to establish the fundamental datapath and control. We then extended the design into a pipelined architecture to achieve instruction-level parallelism and higher throughput. This transition required addressing challenges such as data and branch hazards, which we resolved using techniques like forwarding, stalling, and branch resolution. The project provided a complete view of how pipelining enhances performance while ensuring correctness.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02437" y="8203916"/>
            <a:ext cx="1668432" cy="1802824"/>
          </a:xfrm>
          <a:custGeom>
            <a:avLst/>
            <a:gdLst/>
            <a:ahLst/>
            <a:cxnLst/>
            <a:rect r="r" b="b" t="t" l="l"/>
            <a:pathLst>
              <a:path h="1802824" w="1668432">
                <a:moveTo>
                  <a:pt x="0" y="0"/>
                </a:moveTo>
                <a:lnTo>
                  <a:pt x="1668432" y="0"/>
                </a:lnTo>
                <a:lnTo>
                  <a:pt x="1668432" y="1802824"/>
                </a:lnTo>
                <a:lnTo>
                  <a:pt x="0" y="1802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09543" y="86351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6029" y="2717594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16029" y="4405433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1391485" y="396488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401908" y="607257"/>
            <a:ext cx="2083923" cy="2057400"/>
          </a:xfrm>
          <a:custGeom>
            <a:avLst/>
            <a:gdLst/>
            <a:ahLst/>
            <a:cxnLst/>
            <a:rect r="r" b="b" t="t" l="l"/>
            <a:pathLst>
              <a:path h="2057400" w="2083923">
                <a:moveTo>
                  <a:pt x="0" y="0"/>
                </a:moveTo>
                <a:lnTo>
                  <a:pt x="2083922" y="0"/>
                </a:lnTo>
                <a:lnTo>
                  <a:pt x="2083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71685" y="2717076"/>
            <a:ext cx="11400286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and implement a single-cycle RISC-V processor to establish core datapath and control.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74664" y="876300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GOALS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71685" y="4404915"/>
            <a:ext cx="11400286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Extend the design into a pipelined RISC-V processor to enable instruction-level parallelism.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16029" y="6093017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71685" y="6092499"/>
            <a:ext cx="11400286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Identify and manage hazards (data hazards and branch hazards) introduced by pipelining.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16029" y="7700762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4.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71685" y="7990756"/>
            <a:ext cx="11400286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a UART Controller and implement on an FPGA.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257545" y="2768978"/>
            <a:ext cx="11772911" cy="6609353"/>
          </a:xfrm>
          <a:custGeom>
            <a:avLst/>
            <a:gdLst/>
            <a:ahLst/>
            <a:cxnLst/>
            <a:rect r="r" b="b" t="t" l="l"/>
            <a:pathLst>
              <a:path h="6609353" w="11772911">
                <a:moveTo>
                  <a:pt x="0" y="0"/>
                </a:moveTo>
                <a:lnTo>
                  <a:pt x="11772910" y="0"/>
                </a:lnTo>
                <a:lnTo>
                  <a:pt x="11772910" y="6609354"/>
                </a:lnTo>
                <a:lnTo>
                  <a:pt x="0" y="66093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7704" y="8356603"/>
            <a:ext cx="1882100" cy="1803394"/>
          </a:xfrm>
          <a:custGeom>
            <a:avLst/>
            <a:gdLst/>
            <a:ahLst/>
            <a:cxnLst/>
            <a:rect r="r" b="b" t="t" l="l"/>
            <a:pathLst>
              <a:path h="1803394" w="1882100">
                <a:moveTo>
                  <a:pt x="0" y="0"/>
                </a:moveTo>
                <a:lnTo>
                  <a:pt x="1882100" y="0"/>
                </a:lnTo>
                <a:lnTo>
                  <a:pt x="1882100" y="1803394"/>
                </a:lnTo>
                <a:lnTo>
                  <a:pt x="0" y="1803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12493" y="-157039"/>
            <a:ext cx="12839904" cy="284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SINGLE CYCLE ARCHITECTURE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7950" y="-2104617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715150" y="2401609"/>
            <a:ext cx="11430190" cy="6476423"/>
          </a:xfrm>
          <a:custGeom>
            <a:avLst/>
            <a:gdLst/>
            <a:ahLst/>
            <a:cxnLst/>
            <a:rect r="r" b="b" t="t" l="l"/>
            <a:pathLst>
              <a:path h="6476423" w="11430190">
                <a:moveTo>
                  <a:pt x="0" y="0"/>
                </a:moveTo>
                <a:lnTo>
                  <a:pt x="11430190" y="0"/>
                </a:lnTo>
                <a:lnTo>
                  <a:pt x="11430190" y="6476423"/>
                </a:lnTo>
                <a:lnTo>
                  <a:pt x="0" y="6476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96" t="0" r="-31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26462" y="2761177"/>
            <a:ext cx="7792798" cy="5976977"/>
          </a:xfrm>
          <a:custGeom>
            <a:avLst/>
            <a:gdLst/>
            <a:ahLst/>
            <a:cxnLst/>
            <a:rect r="r" b="b" t="t" l="l"/>
            <a:pathLst>
              <a:path h="5976977" w="7792798">
                <a:moveTo>
                  <a:pt x="0" y="0"/>
                </a:moveTo>
                <a:lnTo>
                  <a:pt x="7792797" y="0"/>
                </a:lnTo>
                <a:lnTo>
                  <a:pt x="7792797" y="5976976"/>
                </a:lnTo>
                <a:lnTo>
                  <a:pt x="0" y="59769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19" r="-3219" b="-7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8682" y="749450"/>
            <a:ext cx="2044832" cy="1145106"/>
          </a:xfrm>
          <a:custGeom>
            <a:avLst/>
            <a:gdLst/>
            <a:ahLst/>
            <a:cxnLst/>
            <a:rect r="r" b="b" t="t" l="l"/>
            <a:pathLst>
              <a:path h="1145106" w="2044832">
                <a:moveTo>
                  <a:pt x="0" y="0"/>
                </a:moveTo>
                <a:lnTo>
                  <a:pt x="2044832" y="0"/>
                </a:lnTo>
                <a:lnTo>
                  <a:pt x="2044832" y="1145105"/>
                </a:lnTo>
                <a:lnTo>
                  <a:pt x="0" y="1145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43514" y="502063"/>
            <a:ext cx="15348937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SINGLE CYCLE TESTBENCH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77528"/>
            <a:ext cx="16507665" cy="4928426"/>
          </a:xfrm>
          <a:custGeom>
            <a:avLst/>
            <a:gdLst/>
            <a:ahLst/>
            <a:cxnLst/>
            <a:rect r="r" b="b" t="t" l="l"/>
            <a:pathLst>
              <a:path h="4928426" w="16507665">
                <a:moveTo>
                  <a:pt x="0" y="0"/>
                </a:moveTo>
                <a:lnTo>
                  <a:pt x="16507665" y="0"/>
                </a:lnTo>
                <a:lnTo>
                  <a:pt x="16507665" y="4928426"/>
                </a:lnTo>
                <a:lnTo>
                  <a:pt x="0" y="4928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1" t="-21389" r="-5130" b="-101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38139" y="5664737"/>
            <a:ext cx="11088788" cy="4158295"/>
          </a:xfrm>
          <a:custGeom>
            <a:avLst/>
            <a:gdLst/>
            <a:ahLst/>
            <a:cxnLst/>
            <a:rect r="r" b="b" t="t" l="l"/>
            <a:pathLst>
              <a:path h="4158295" w="11088788">
                <a:moveTo>
                  <a:pt x="0" y="0"/>
                </a:moveTo>
                <a:lnTo>
                  <a:pt x="11088788" y="0"/>
                </a:lnTo>
                <a:lnTo>
                  <a:pt x="11088788" y="4158296"/>
                </a:lnTo>
                <a:lnTo>
                  <a:pt x="0" y="41582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6761" y="8201731"/>
            <a:ext cx="2588428" cy="1807193"/>
          </a:xfrm>
          <a:custGeom>
            <a:avLst/>
            <a:gdLst/>
            <a:ahLst/>
            <a:cxnLst/>
            <a:rect r="r" b="b" t="t" l="l"/>
            <a:pathLst>
              <a:path h="1807193" w="2588428">
                <a:moveTo>
                  <a:pt x="0" y="0"/>
                </a:moveTo>
                <a:lnTo>
                  <a:pt x="2588429" y="0"/>
                </a:lnTo>
                <a:lnTo>
                  <a:pt x="2588429" y="1807193"/>
                </a:lnTo>
                <a:lnTo>
                  <a:pt x="0" y="18071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00641" y="-142875"/>
            <a:ext cx="9205169" cy="122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8"/>
              </a:lnSpc>
            </a:pPr>
            <a:r>
              <a:rPr lang="en-US" b="true" sz="70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UART MODULE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267734" y="1635957"/>
            <a:ext cx="12738920" cy="8041444"/>
          </a:xfrm>
          <a:custGeom>
            <a:avLst/>
            <a:gdLst/>
            <a:ahLst/>
            <a:cxnLst/>
            <a:rect r="r" b="b" t="t" l="l"/>
            <a:pathLst>
              <a:path h="8041444" w="12738920">
                <a:moveTo>
                  <a:pt x="0" y="0"/>
                </a:moveTo>
                <a:lnTo>
                  <a:pt x="12738920" y="0"/>
                </a:lnTo>
                <a:lnTo>
                  <a:pt x="12738920" y="8041443"/>
                </a:lnTo>
                <a:lnTo>
                  <a:pt x="0" y="8041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094" y="7194755"/>
            <a:ext cx="2360671" cy="2628278"/>
          </a:xfrm>
          <a:custGeom>
            <a:avLst/>
            <a:gdLst/>
            <a:ahLst/>
            <a:cxnLst/>
            <a:rect r="r" b="b" t="t" l="l"/>
            <a:pathLst>
              <a:path h="2628278" w="2360671">
                <a:moveTo>
                  <a:pt x="0" y="0"/>
                </a:moveTo>
                <a:lnTo>
                  <a:pt x="2360671" y="0"/>
                </a:lnTo>
                <a:lnTo>
                  <a:pt x="2360671" y="2628278"/>
                </a:lnTo>
                <a:lnTo>
                  <a:pt x="0" y="26282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18729" y="-152400"/>
            <a:ext cx="15167102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PIPELINED ARCHITECTURE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102453" y="2562161"/>
            <a:ext cx="10817323" cy="6543166"/>
          </a:xfrm>
          <a:custGeom>
            <a:avLst/>
            <a:gdLst/>
            <a:ahLst/>
            <a:cxnLst/>
            <a:rect r="r" b="b" t="t" l="l"/>
            <a:pathLst>
              <a:path h="6543166" w="10817323">
                <a:moveTo>
                  <a:pt x="0" y="0"/>
                </a:moveTo>
                <a:lnTo>
                  <a:pt x="10817323" y="0"/>
                </a:lnTo>
                <a:lnTo>
                  <a:pt x="10817323" y="6543167"/>
                </a:lnTo>
                <a:lnTo>
                  <a:pt x="0" y="65431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479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79278" y="-140283"/>
            <a:ext cx="2106553" cy="2491621"/>
          </a:xfrm>
          <a:custGeom>
            <a:avLst/>
            <a:gdLst/>
            <a:ahLst/>
            <a:cxnLst/>
            <a:rect r="r" b="b" t="t" l="l"/>
            <a:pathLst>
              <a:path h="2491621" w="2106553">
                <a:moveTo>
                  <a:pt x="0" y="0"/>
                </a:moveTo>
                <a:lnTo>
                  <a:pt x="2106552" y="0"/>
                </a:lnTo>
                <a:lnTo>
                  <a:pt x="2106552" y="2491621"/>
                </a:lnTo>
                <a:lnTo>
                  <a:pt x="0" y="2491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07418" y="-133350"/>
            <a:ext cx="11802512" cy="248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b="true" sz="7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HAZARD MITIGATION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6105" y="2389866"/>
            <a:ext cx="5408644" cy="6715462"/>
          </a:xfrm>
          <a:custGeom>
            <a:avLst/>
            <a:gdLst/>
            <a:ahLst/>
            <a:cxnLst/>
            <a:rect r="r" b="b" t="t" l="l"/>
            <a:pathLst>
              <a:path h="6715462" w="5408644">
                <a:moveTo>
                  <a:pt x="0" y="0"/>
                </a:moveTo>
                <a:lnTo>
                  <a:pt x="5408643" y="0"/>
                </a:lnTo>
                <a:lnTo>
                  <a:pt x="5408643" y="6715462"/>
                </a:lnTo>
                <a:lnTo>
                  <a:pt x="0" y="6715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11" r="0" b="-21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19378" y="3045386"/>
            <a:ext cx="8030665" cy="5404420"/>
          </a:xfrm>
          <a:custGeom>
            <a:avLst/>
            <a:gdLst/>
            <a:ahLst/>
            <a:cxnLst/>
            <a:rect r="r" b="b" t="t" l="l"/>
            <a:pathLst>
              <a:path h="5404420" w="8030665">
                <a:moveTo>
                  <a:pt x="0" y="0"/>
                </a:moveTo>
                <a:lnTo>
                  <a:pt x="8030665" y="0"/>
                </a:lnTo>
                <a:lnTo>
                  <a:pt x="8030665" y="5404421"/>
                </a:lnTo>
                <a:lnTo>
                  <a:pt x="0" y="5404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959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17050" y="586451"/>
            <a:ext cx="1642250" cy="1449286"/>
          </a:xfrm>
          <a:custGeom>
            <a:avLst/>
            <a:gdLst/>
            <a:ahLst/>
            <a:cxnLst/>
            <a:rect r="r" b="b" t="t" l="l"/>
            <a:pathLst>
              <a:path h="1449286" w="1642250">
                <a:moveTo>
                  <a:pt x="0" y="0"/>
                </a:moveTo>
                <a:lnTo>
                  <a:pt x="1642250" y="0"/>
                </a:lnTo>
                <a:lnTo>
                  <a:pt x="1642250" y="1449285"/>
                </a:lnTo>
                <a:lnTo>
                  <a:pt x="0" y="14492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00641" y="53999"/>
            <a:ext cx="9205169" cy="235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b="true" sz="67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CONTROL HAZARD MITIGATION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6529" y="2683645"/>
            <a:ext cx="14517315" cy="2558677"/>
          </a:xfrm>
          <a:custGeom>
            <a:avLst/>
            <a:gdLst/>
            <a:ahLst/>
            <a:cxnLst/>
            <a:rect r="r" b="b" t="t" l="l"/>
            <a:pathLst>
              <a:path h="2558677" w="14517315">
                <a:moveTo>
                  <a:pt x="0" y="0"/>
                </a:moveTo>
                <a:lnTo>
                  <a:pt x="14517315" y="0"/>
                </a:lnTo>
                <a:lnTo>
                  <a:pt x="14517315" y="2558676"/>
                </a:lnTo>
                <a:lnTo>
                  <a:pt x="0" y="2558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6529" y="6165612"/>
            <a:ext cx="14687284" cy="2533557"/>
          </a:xfrm>
          <a:custGeom>
            <a:avLst/>
            <a:gdLst/>
            <a:ahLst/>
            <a:cxnLst/>
            <a:rect r="r" b="b" t="t" l="l"/>
            <a:pathLst>
              <a:path h="2533557" w="14687284">
                <a:moveTo>
                  <a:pt x="0" y="0"/>
                </a:moveTo>
                <a:lnTo>
                  <a:pt x="14687284" y="0"/>
                </a:lnTo>
                <a:lnTo>
                  <a:pt x="14687284" y="2533556"/>
                </a:lnTo>
                <a:lnTo>
                  <a:pt x="0" y="2533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74362" y="125561"/>
            <a:ext cx="2422937" cy="1938349"/>
          </a:xfrm>
          <a:custGeom>
            <a:avLst/>
            <a:gdLst/>
            <a:ahLst/>
            <a:cxnLst/>
            <a:rect r="r" b="b" t="t" l="l"/>
            <a:pathLst>
              <a:path h="1938349" w="2422937">
                <a:moveTo>
                  <a:pt x="0" y="0"/>
                </a:moveTo>
                <a:lnTo>
                  <a:pt x="2422937" y="0"/>
                </a:lnTo>
                <a:lnTo>
                  <a:pt x="2422937" y="1938350"/>
                </a:lnTo>
                <a:lnTo>
                  <a:pt x="0" y="1938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05159" y="243465"/>
            <a:ext cx="1253538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PIPELINE SIMULATION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6529" y="1997236"/>
            <a:ext cx="488680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Hazard Simulation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9942" y="5585221"/>
            <a:ext cx="54829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 Hazard Simulation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14256" y="59525"/>
            <a:ext cx="2422937" cy="1938349"/>
          </a:xfrm>
          <a:custGeom>
            <a:avLst/>
            <a:gdLst/>
            <a:ahLst/>
            <a:cxnLst/>
            <a:rect r="r" b="b" t="t" l="l"/>
            <a:pathLst>
              <a:path h="1938349" w="2422937">
                <a:moveTo>
                  <a:pt x="0" y="0"/>
                </a:moveTo>
                <a:lnTo>
                  <a:pt x="2422937" y="0"/>
                </a:lnTo>
                <a:lnTo>
                  <a:pt x="2422937" y="1938350"/>
                </a:lnTo>
                <a:lnTo>
                  <a:pt x="0" y="1938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328438"/>
            <a:ext cx="15980182" cy="5067325"/>
          </a:xfrm>
          <a:custGeom>
            <a:avLst/>
            <a:gdLst/>
            <a:ahLst/>
            <a:cxnLst/>
            <a:rect r="r" b="b" t="t" l="l"/>
            <a:pathLst>
              <a:path h="5067325" w="15980182">
                <a:moveTo>
                  <a:pt x="0" y="0"/>
                </a:moveTo>
                <a:lnTo>
                  <a:pt x="15980182" y="0"/>
                </a:lnTo>
                <a:lnTo>
                  <a:pt x="15980182" y="5067325"/>
                </a:lnTo>
                <a:lnTo>
                  <a:pt x="0" y="5067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96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37032" y="243465"/>
            <a:ext cx="1253538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PIPELINE SIMULATION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97043"/>
            <a:ext cx="54829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 Hazard Simulation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204284"/>
            <a:ext cx="8442991" cy="5878433"/>
          </a:xfrm>
          <a:custGeom>
            <a:avLst/>
            <a:gdLst/>
            <a:ahLst/>
            <a:cxnLst/>
            <a:rect r="r" b="b" t="t" l="l"/>
            <a:pathLst>
              <a:path h="5878433" w="8442991">
                <a:moveTo>
                  <a:pt x="0" y="0"/>
                </a:moveTo>
                <a:lnTo>
                  <a:pt x="8442991" y="0"/>
                </a:lnTo>
                <a:lnTo>
                  <a:pt x="8442991" y="5878432"/>
                </a:lnTo>
                <a:lnTo>
                  <a:pt x="0" y="5878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18114" y="3765137"/>
            <a:ext cx="6731930" cy="2463548"/>
          </a:xfrm>
          <a:custGeom>
            <a:avLst/>
            <a:gdLst/>
            <a:ahLst/>
            <a:cxnLst/>
            <a:rect r="r" b="b" t="t" l="l"/>
            <a:pathLst>
              <a:path h="2463548" w="6731930">
                <a:moveTo>
                  <a:pt x="0" y="0"/>
                </a:moveTo>
                <a:lnTo>
                  <a:pt x="6731929" y="0"/>
                </a:lnTo>
                <a:lnTo>
                  <a:pt x="6731929" y="2463549"/>
                </a:lnTo>
                <a:lnTo>
                  <a:pt x="0" y="2463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96154" b="-16402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0572" y="408654"/>
            <a:ext cx="2182799" cy="1968488"/>
          </a:xfrm>
          <a:custGeom>
            <a:avLst/>
            <a:gdLst/>
            <a:ahLst/>
            <a:cxnLst/>
            <a:rect r="r" b="b" t="t" l="l"/>
            <a:pathLst>
              <a:path h="1968488" w="2182799">
                <a:moveTo>
                  <a:pt x="0" y="0"/>
                </a:moveTo>
                <a:lnTo>
                  <a:pt x="2182799" y="0"/>
                </a:lnTo>
                <a:lnTo>
                  <a:pt x="2182799" y="1968488"/>
                </a:lnTo>
                <a:lnTo>
                  <a:pt x="0" y="1968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69920" y="256254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FPGA OUTPUT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68162" y="3040892"/>
            <a:ext cx="17351677" cy="521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Successfully implemented the RV32I Processor starting with a Single-Cycle design and extending to a Pipelined architecture.</a:t>
            </a:r>
          </a:p>
          <a:p>
            <a:pPr algn="ctr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Pipelining improved instruction throughput and demonstrated key computer architecture concepts such as instruction overlap and hazard handling.</a:t>
            </a:r>
          </a:p>
          <a:p>
            <a:pPr algn="ctr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Explored UART integration for external communication, enabling data transfer between the processor and external devices.</a:t>
            </a:r>
          </a:p>
          <a:p>
            <a:pPr algn="ctr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This project provided hands-on exposure to processor design, hardware description in Verilog, and system-level integration.</a:t>
            </a:r>
          </a:p>
          <a:p>
            <a:pPr algn="ctr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7700" y="7636010"/>
            <a:ext cx="3009306" cy="2484045"/>
          </a:xfrm>
          <a:custGeom>
            <a:avLst/>
            <a:gdLst/>
            <a:ahLst/>
            <a:cxnLst/>
            <a:rect r="r" b="b" t="t" l="l"/>
            <a:pathLst>
              <a:path h="2484045" w="3009306">
                <a:moveTo>
                  <a:pt x="0" y="0"/>
                </a:moveTo>
                <a:lnTo>
                  <a:pt x="3009306" y="0"/>
                </a:lnTo>
                <a:lnTo>
                  <a:pt x="3009306" y="2484045"/>
                </a:lnTo>
                <a:lnTo>
                  <a:pt x="0" y="24840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9920" y="86351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DAGx5fo6Lo8</dc:identifier>
  <dcterms:modified xsi:type="dcterms:W3CDTF">2011-08-01T06:04:30Z</dcterms:modified>
  <cp:revision>1</cp:revision>
  <dc:title>Grey Minimalist Professional Project Presentation</dc:title>
</cp:coreProperties>
</file>